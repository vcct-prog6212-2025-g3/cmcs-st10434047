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32610-48A3-4349-B594-49AA0962254E}" v="61" dt="2025-11-21T16:41:27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335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195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095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08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633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50799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672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650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07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9462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6886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8652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881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7672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9806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682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D145-E354-4009-A572-C39FFD2C4E1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6D97321-6BC7-407C-BA38-1B7BBD7C0F9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030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5562-659E-5259-C45C-0DA0D2442E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Contract Monthly Claim System (CMCS)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95095-D7B8-E862-161E-B6DA0BDB01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Part 3: Automation &amp; Enterprise Integration</a:t>
            </a:r>
          </a:p>
          <a:p>
            <a:r>
              <a:rPr lang="fr-FR" dirty="0"/>
              <a:t>ST10434047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37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0625-53EA-9E70-DE0D-189477FA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Transforming Academic Claims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00D29B-10DC-7418-FB22-126765AC86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56958"/>
            <a:ext cx="8760732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600" dirty="0"/>
              <a:t>Welcome. This presentation covers the final iteration of the CMCS.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600" dirty="0"/>
              <a:t>We moved from a basic prototype in Part 2 to a fully automated,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600" dirty="0"/>
              <a:t>role-based system in Part 3, addressing the critical need for accurate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600" dirty="0"/>
              <a:t>financial tracking in academic institutions.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Streamline the monthly claim process for Independent Contractor (IC) lecturers.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centralized ASP.NET Core 8 MVC web application.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Value: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Automation, Transparency, and Accountability.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Live on Microsoft Azure.</a:t>
            </a:r>
          </a:p>
        </p:txBody>
      </p:sp>
    </p:spTree>
    <p:extLst>
      <p:ext uri="{BB962C8B-B14F-4D97-AF65-F5344CB8AC3E}">
        <p14:creationId xmlns:p14="http://schemas.microsoft.com/office/powerpoint/2010/main" val="3440082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171E-CFF5-E58B-C476-3A9A5154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Enhancements &amp; Automation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281BC8-240E-DFF8-2E6F-491B01A33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528916"/>
            <a:ext cx="855561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Per the Part 3 requirements, the focus shifted to automation.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We introduced the HR role to centralize data control,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automated the math to prevent errors, and added robust reporting features.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HR Role: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Added "Super User" capabilities for managing users and rates.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Auto-calculation of claim amounts (Hours × Rate).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PDF invoice generation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Strict 180-hour cap and file upload restrictions.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Hybrid Registration/Approval model implemented.</a:t>
            </a:r>
          </a:p>
        </p:txBody>
      </p:sp>
    </p:spTree>
    <p:extLst>
      <p:ext uri="{BB962C8B-B14F-4D97-AF65-F5344CB8AC3E}">
        <p14:creationId xmlns:p14="http://schemas.microsoft.com/office/powerpoint/2010/main" val="295110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BB20-0E66-1335-A30F-43FC9E7F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4" y="584200"/>
            <a:ext cx="9349316" cy="1320800"/>
          </a:xfrm>
        </p:spPr>
        <p:txBody>
          <a:bodyPr/>
          <a:lstStyle/>
          <a:p>
            <a:r>
              <a:rPr lang="en-ZA" dirty="0"/>
              <a:t>Tech Stack &amp; Design &amp; System Architecture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73E266BF-37DF-DE52-B03F-DE2ED96B2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808316"/>
            <a:ext cx="84129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The system is built on a robust .NET 8 architecture.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We use Entity Framework for data management and a modern '</a:t>
            </a:r>
            <a:r>
              <a:rPr lang="en-GB" dirty="0" err="1"/>
              <a:t>Glassmorphism</a:t>
            </a:r>
            <a:r>
              <a:rPr lang="en-GB" dirty="0"/>
              <a:t>’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design language to ensure the user interface is intuitive and engaging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ASP.NET Core 8 (MVC).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Entity Framework Core (Code-First) + SQL Server.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Bootstrap 5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Glassmorphism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ASP.NET Core Identity (RBAC).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Chart.js (Analytics),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(PDF Reporting).</a:t>
            </a:r>
          </a:p>
        </p:txBody>
      </p:sp>
    </p:spTree>
    <p:extLst>
      <p:ext uri="{BB962C8B-B14F-4D97-AF65-F5344CB8AC3E}">
        <p14:creationId xmlns:p14="http://schemas.microsoft.com/office/powerpoint/2010/main" val="4098317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2073-F624-CA4D-14E6-D201B966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Spotlight: The HR "Super User“</a:t>
            </a:r>
            <a:br>
              <a:rPr lang="en-GB" dirty="0"/>
            </a:br>
            <a:r>
              <a:rPr lang="en-ZA" dirty="0"/>
              <a:t>Centralized Control (HR View)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36AEB4-C3FD-36A4-9BD9-FAE1E0029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085314"/>
            <a:ext cx="1051319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The HR view is the backbone of Part 3. By removing the ability for lecturers to set their own rates,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we eliminate financial discrepancies. HR is the only entity that can authorize payment structures.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HR maintains lecturer profiles.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 Configuration: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Hourly rates are set globally by HR, not input by lecturers.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"No Claims" policy until HR validates the profile.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Monthly PDF generation for payroll.</a:t>
            </a:r>
          </a:p>
        </p:txBody>
      </p:sp>
    </p:spTree>
    <p:extLst>
      <p:ext uri="{BB962C8B-B14F-4D97-AF65-F5344CB8AC3E}">
        <p14:creationId xmlns:p14="http://schemas.microsoft.com/office/powerpoint/2010/main" val="260994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21E31-774C-3006-B0B3-7BEEE983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Smart Claim Submission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363928-0B48-D194-D741-B10AF85D6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946815"/>
            <a:ext cx="86764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For lecturers, the process is now error-proof.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They enter hours, upload proof, and the system handles the math.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We also integrated strict validation to ensure compliance with labour regulations.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Auto-Population: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Hourly Rate pulled directly from DB.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Calculation: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JavaScript updates Total instantly.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Server-side check for &gt;180 hours/month.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Mandatory file uploads (PDF/DOCX) with size limits.</a:t>
            </a:r>
          </a:p>
        </p:txBody>
      </p:sp>
    </p:spTree>
    <p:extLst>
      <p:ext uri="{BB962C8B-B14F-4D97-AF65-F5344CB8AC3E}">
        <p14:creationId xmlns:p14="http://schemas.microsoft.com/office/powerpoint/2010/main" val="5016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8D1A-9B2F-0DA0-86D8-D92E10F5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Two-Stage Verification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6425B2-48E1-FDA1-13B7-7D9AD8E364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085314"/>
            <a:ext cx="921342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We maintained the separation of concerns. Coordinators check the work was done;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Managers approve the money. This audit trail ensures total accountability.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1 (Coordinator):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Verifies academic delivery and evidence.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2 (Manager):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financial approval for payment.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Status tracks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 Loops: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Claims can be rejected with feedback at any stage.</a:t>
            </a:r>
          </a:p>
        </p:txBody>
      </p:sp>
    </p:spTree>
    <p:extLst>
      <p:ext uri="{BB962C8B-B14F-4D97-AF65-F5344CB8AC3E}">
        <p14:creationId xmlns:p14="http://schemas.microsoft.com/office/powerpoint/2010/main" val="697658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056-F72D-9313-B21E-F3D89A917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Hybrid Access Control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00858A-D3CC-6E51-EDBD-ECB253CB4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808316"/>
            <a:ext cx="8251041" cy="258532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To balance usability with the strict 'No Register' requirement,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we implemented a hybrid model. Registration acts as an access request.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Functionality remains disabled until HR explicitly activates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the account by assigning a pay rate.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Constraint: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"No self-registration allowed."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+ HR Approval Model.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can register, BUT claims are locked.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 is only granted once HR manually sets the Hourly Rate.</a:t>
            </a:r>
          </a:p>
        </p:txBody>
      </p:sp>
    </p:spTree>
    <p:extLst>
      <p:ext uri="{BB962C8B-B14F-4D97-AF65-F5344CB8AC3E}">
        <p14:creationId xmlns:p14="http://schemas.microsoft.com/office/powerpoint/2010/main" val="3843361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81B4-BEFE-522C-6BD6-654FCFF3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35" y="615950"/>
            <a:ext cx="9304866" cy="1320800"/>
          </a:xfrm>
        </p:spPr>
        <p:txBody>
          <a:bodyPr/>
          <a:lstStyle/>
          <a:p>
            <a:r>
              <a:rPr lang="en-ZA" dirty="0"/>
              <a:t>Reporting &amp; Analytics | Data-Driven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F469B-B5D5-33CC-509E-92C16E681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Finally, we automated the output. HR doesn't need to compile spreadsheets manually. The system generates signed PDF invoices instantly using LINQ queries to filter by month and year.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Bullet Points:</a:t>
            </a:r>
            <a:endParaRPr lang="en-GB" dirty="0"/>
          </a:p>
          <a:p>
            <a:r>
              <a:rPr lang="en-GB" b="1" dirty="0"/>
              <a:t>Dashboards:</a:t>
            </a:r>
            <a:r>
              <a:rPr lang="en-GB" dirty="0"/>
              <a:t> Live Chart.js graphs for claim trends.</a:t>
            </a:r>
          </a:p>
          <a:p>
            <a:r>
              <a:rPr lang="en-GB" b="1" dirty="0"/>
              <a:t>PDF Reports:</a:t>
            </a:r>
            <a:r>
              <a:rPr lang="en-GB" dirty="0"/>
              <a:t> Automated invoice generation for payroll integration.</a:t>
            </a:r>
          </a:p>
          <a:p>
            <a:r>
              <a:rPr lang="en-GB" b="1" dirty="0"/>
              <a:t>Audit Logs:</a:t>
            </a:r>
            <a:r>
              <a:rPr lang="en-GB" dirty="0"/>
              <a:t> Full history of submission and approval dates.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731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826D-C276-CA35-0A97-E39364B8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DA522B-70FB-4A9F-7F14-AFA4C7F556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946815"/>
            <a:ext cx="8271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In conclusion, the CMCS is now a production-ready tool that solves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the administrative burden of academic claims through intelligent automation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and secure design. Thank you.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Met: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Part 3 checklist items implemented.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Secure, role-based, and validated.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Deployed on Azure with cloud architecture.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User-Centric: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 UI with automated workflows.</a:t>
            </a:r>
          </a:p>
        </p:txBody>
      </p:sp>
    </p:spTree>
    <p:extLst>
      <p:ext uri="{BB962C8B-B14F-4D97-AF65-F5344CB8AC3E}">
        <p14:creationId xmlns:p14="http://schemas.microsoft.com/office/powerpoint/2010/main" val="8204359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773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Contract Monthly Claim System (CMCS)</vt:lpstr>
      <vt:lpstr>Transforming Academic Claims</vt:lpstr>
      <vt:lpstr>Enhancements &amp; Automation</vt:lpstr>
      <vt:lpstr>Tech Stack &amp; Design &amp; System Architecture</vt:lpstr>
      <vt:lpstr>Feature Spotlight: The HR "Super User“ Centralized Control (HR View)</vt:lpstr>
      <vt:lpstr>Smart Claim Submission</vt:lpstr>
      <vt:lpstr>Two-Stage Verification</vt:lpstr>
      <vt:lpstr>Hybrid Access Control</vt:lpstr>
      <vt:lpstr>Reporting &amp; Analytics | Data-Driven Insights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Abrahams</dc:creator>
  <cp:lastModifiedBy>Jamie Abrahams</cp:lastModifiedBy>
  <cp:revision>1</cp:revision>
  <dcterms:created xsi:type="dcterms:W3CDTF">2025-11-21T16:28:54Z</dcterms:created>
  <dcterms:modified xsi:type="dcterms:W3CDTF">2025-11-21T16:42:35Z</dcterms:modified>
</cp:coreProperties>
</file>